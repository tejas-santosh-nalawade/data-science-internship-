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84" r:id="rId5"/>
    <p:sldId id="286" r:id="rId6"/>
    <p:sldId id="287" r:id="rId7"/>
    <p:sldId id="262" r:id="rId8"/>
    <p:sldId id="295" r:id="rId9"/>
    <p:sldId id="296" r:id="rId10"/>
    <p:sldId id="293" r:id="rId11"/>
    <p:sldId id="2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99" autoAdjust="0"/>
  </p:normalViewPr>
  <p:slideViewPr>
    <p:cSldViewPr snapToGrid="0" snapToObjects="1" showGuides="1">
      <p:cViewPr varScale="1">
        <p:scale>
          <a:sx n="84" d="100"/>
          <a:sy n="84" d="100"/>
        </p:scale>
        <p:origin x="658" y="77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micstutorials.com/data-science-for-bioinformatics-a-comprehensive-introduction-to-analyzing-biological-data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513840"/>
            <a:ext cx="3840480" cy="2420874"/>
          </a:xfrm>
        </p:spPr>
        <p:txBody>
          <a:bodyPr/>
          <a:lstStyle/>
          <a:p>
            <a:r>
              <a:rPr lang="en-US" sz="4000" b="1" dirty="0"/>
              <a:t>Data Warehouse  OLTP VS OLAP and ETL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0" y="4525772"/>
            <a:ext cx="2316480" cy="496824"/>
          </a:xfrm>
        </p:spPr>
        <p:txBody>
          <a:bodyPr/>
          <a:lstStyle/>
          <a:p>
            <a:r>
              <a:rPr lang="en-US" b="1" dirty="0"/>
              <a:t>TEJAS NALAWADE 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F238E98-A8BC-0DA2-94CE-CDC238F9A1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988" r="4921"/>
          <a:stretch>
            <a:fillRect/>
          </a:stretch>
        </p:blipFill>
        <p:spPr>
          <a:xfrm>
            <a:off x="4815840" y="922782"/>
            <a:ext cx="6179615" cy="4676648"/>
          </a:xfrm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DEE7-E7EE-60E4-4393-4B4043EFA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74E3C-F63F-9F93-EE35-CD5E465CD0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2004096" cy="836168"/>
          </a:xfrm>
        </p:spPr>
        <p:txBody>
          <a:bodyPr/>
          <a:lstStyle/>
          <a:p>
            <a:r>
              <a:rPr lang="en-US" dirty="0"/>
              <a:t>What is Data Science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2D95C9-142A-BF9A-3602-F4AB11608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Data Warehouse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2F5204-1928-06AD-9878-6DD27D5DF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756198"/>
          </a:xfrm>
        </p:spPr>
        <p:txBody>
          <a:bodyPr/>
          <a:lstStyle/>
          <a:p>
            <a:r>
              <a:rPr lang="en-US" dirty="0"/>
              <a:t>OLTP vs OLAP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77FAA-28B8-34BB-09CE-CCE6C8C73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ETL 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D1FB0-0B3C-DCCA-CB4F-4FEAE1317B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E3B97B2-F540-9F02-5569-597A7E7B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6552" y="6400904"/>
            <a:ext cx="2338895" cy="310896"/>
          </a:xfrm>
        </p:spPr>
        <p:txBody>
          <a:bodyPr/>
          <a:lstStyle/>
          <a:p>
            <a:r>
              <a:rPr lang="en-US" sz="1200" dirty="0"/>
              <a:t>DATA SCIENCE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FA1C40B-4426-2DD0-CFB0-3E30E9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982876"/>
            <a:ext cx="5038344" cy="1709928"/>
          </a:xfrm>
        </p:spPr>
        <p:txBody>
          <a:bodyPr/>
          <a:lstStyle/>
          <a:p>
            <a:r>
              <a:rPr lang="en-US" sz="5400" dirty="0"/>
              <a:t>What is Data Science</a:t>
            </a:r>
            <a:br>
              <a:rPr lang="en-US" sz="5400" dirty="0">
                <a:sym typeface="DM Sans Medium"/>
              </a:rPr>
            </a:br>
            <a:endParaRPr lang="en-US" sz="5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814724"/>
            <a:ext cx="5376672" cy="2544634"/>
          </a:xfrm>
        </p:spPr>
        <p:txBody>
          <a:bodyPr/>
          <a:lstStyle/>
          <a:p>
            <a:r>
              <a:rPr lang="en-US" sz="2400" dirty="0"/>
              <a:t>Data Science is the discipline of collecting, processing, and transforming raw data into meaningful insights that help leaders and decision-makers make informed and data-driven decisions.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8167DF6A-77FE-448E-4777-3F77371428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4020" t="9185" r="34688" b="5185"/>
          <a:stretch>
            <a:fillRect/>
          </a:stretch>
        </p:blipFill>
        <p:spPr>
          <a:xfrm>
            <a:off x="7863842" y="233680"/>
            <a:ext cx="4165844" cy="6414112"/>
          </a:xfrm>
        </p:spPr>
      </p:pic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8C7540E-B0E4-8988-0AC7-7E0E7DD8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528320"/>
            <a:ext cx="11477752" cy="1096160"/>
          </a:xfrm>
        </p:spPr>
        <p:txBody>
          <a:bodyPr/>
          <a:lstStyle/>
          <a:p>
            <a:r>
              <a:rPr lang="en-US" sz="4000" dirty="0"/>
              <a:t>What will happen if Data Science is not use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3D20-2309-63AE-98EC-B0B39012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3E077-7F17-1883-4456-AB9E42DB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Wrong or Poor Decision making</a:t>
            </a:r>
          </a:p>
          <a:p>
            <a:r>
              <a:rPr lang="en-US" dirty="0"/>
              <a:t> High Risk to business</a:t>
            </a:r>
          </a:p>
          <a:p>
            <a:r>
              <a:rPr lang="en-US" dirty="0"/>
              <a:t> Less Efficient </a:t>
            </a:r>
          </a:p>
          <a:p>
            <a:r>
              <a:rPr lang="en-US" dirty="0"/>
              <a:t> Slower Growth </a:t>
            </a:r>
          </a:p>
          <a:p>
            <a:r>
              <a:rPr lang="en-US" dirty="0"/>
              <a:t> Decision would be Guess based </a:t>
            </a:r>
          </a:p>
          <a:p>
            <a:r>
              <a:rPr lang="en-US" dirty="0"/>
              <a:t>Competitive Disadvantage </a:t>
            </a:r>
          </a:p>
          <a:p>
            <a:r>
              <a:rPr lang="en-US" dirty="0"/>
              <a:t>No real time insights</a:t>
            </a:r>
          </a:p>
          <a:p>
            <a:r>
              <a:rPr lang="en-US" dirty="0"/>
              <a:t>Poor Resource utilization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75E84-4798-D051-6CA7-D00FE9C97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546" y="1978660"/>
            <a:ext cx="6390822" cy="357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16390-8F9C-9922-F495-95220D83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FC1DB53-068E-7FA6-128B-19E6A18E2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WAREHOUSE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2811F-992B-7307-6945-DCF734EE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BD780-9425-A259-C5F4-30BCC76B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64A50-ED7A-87C9-C726-6BAA4A6F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A3915-4E12-3742-E8E4-AD3C9C541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3159760"/>
            <a:ext cx="4097528" cy="2811272"/>
          </a:xfrm>
        </p:spPr>
        <p:txBody>
          <a:bodyPr/>
          <a:lstStyle/>
          <a:p>
            <a:r>
              <a:rPr lang="en-US" dirty="0"/>
              <a:t> Centralized Data storage</a:t>
            </a:r>
          </a:p>
          <a:p>
            <a:r>
              <a:rPr lang="en-US" dirty="0"/>
              <a:t> Stores Historical Data </a:t>
            </a:r>
          </a:p>
          <a:p>
            <a:r>
              <a:rPr lang="en-US" dirty="0"/>
              <a:t> Use ETL process </a:t>
            </a:r>
          </a:p>
          <a:p>
            <a:r>
              <a:rPr lang="en-US" dirty="0"/>
              <a:t> Works with BI tools </a:t>
            </a:r>
          </a:p>
          <a:p>
            <a:r>
              <a:rPr lang="en-US" dirty="0"/>
              <a:t> Support decision making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8B828-D15C-03DA-7B0B-E02955AE5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527048"/>
            <a:ext cx="5703322" cy="4694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54264A-D682-1972-0DBE-004EC4A333DF}"/>
              </a:ext>
            </a:extLst>
          </p:cNvPr>
          <p:cNvSpPr txBox="1"/>
          <p:nvPr/>
        </p:nvSpPr>
        <p:spPr>
          <a:xfrm>
            <a:off x="375920" y="1527048"/>
            <a:ext cx="5415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data warehouse is a centralized repository that stores integrated and historical data to support analysis and decision-making.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5958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C0395-D521-F933-30BE-03101B75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BBBF3E3-9A7D-68D7-3C97-5FDE4352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OLTP and OLAP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28093-9271-EC82-288C-241D15DD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0132D-EB45-FE2C-6901-90308AAB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E1C47-86BB-1B9F-C8E7-402FE1E4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E2804-686D-BB57-782B-6E2186971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49" y="2783839"/>
            <a:ext cx="5015673" cy="3411745"/>
          </a:xfrm>
        </p:spPr>
        <p:txBody>
          <a:bodyPr/>
          <a:lstStyle/>
          <a:p>
            <a:r>
              <a:rPr lang="en-US" dirty="0"/>
              <a:t>OLTP for common people ETL</a:t>
            </a:r>
          </a:p>
          <a:p>
            <a:r>
              <a:rPr lang="en-US" dirty="0"/>
              <a:t>OLAP for expert Analysis </a:t>
            </a:r>
          </a:p>
          <a:p>
            <a:r>
              <a:rPr lang="en-US" dirty="0"/>
              <a:t>OLAP use Historical data </a:t>
            </a:r>
          </a:p>
          <a:p>
            <a:r>
              <a:rPr lang="en-US" dirty="0"/>
              <a:t>OLTP use the current data</a:t>
            </a:r>
          </a:p>
          <a:p>
            <a:r>
              <a:rPr lang="en-US" dirty="0"/>
              <a:t>Example: Online Food Booking App where order place is OLTP but Top Selling Food item is OLAP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5B6F0-079A-DFA7-E8B8-C64C71DE0F79}"/>
              </a:ext>
            </a:extLst>
          </p:cNvPr>
          <p:cNvSpPr txBox="1"/>
          <p:nvPr/>
        </p:nvSpPr>
        <p:spPr>
          <a:xfrm>
            <a:off x="332232" y="1487492"/>
            <a:ext cx="5415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OLTP : Online Transaction Process</a:t>
            </a:r>
          </a:p>
          <a:p>
            <a:r>
              <a:rPr lang="en-US" sz="2800" dirty="0"/>
              <a:t>OLAP: Online Analytical Processing </a:t>
            </a:r>
            <a:endParaRPr lang="en-IN" sz="2800" dirty="0"/>
          </a:p>
        </p:txBody>
      </p:sp>
      <p:pic>
        <p:nvPicPr>
          <p:cNvPr id="2052" name="Picture 4" descr="Data Engineers for freshers Article 3: OLTP vs OLAP | by THE ...">
            <a:extLst>
              <a:ext uri="{FF2B5EF4-FFF2-40B4-BE49-F238E27FC236}">
                <a16:creationId xmlns:a16="http://schemas.microsoft.com/office/drawing/2014/main" id="{A28E3336-1A77-1C6D-D33D-26E58F6AC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466" y="1712594"/>
            <a:ext cx="6767385" cy="448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06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CAC6-3968-4D63-A855-09547BB0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9AC71-9ED4-FA59-D386-5BD9C585D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dirty="0"/>
              <a:t>EXTRACT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CADAC-D2BA-2781-21DF-E36A2D898F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400" dirty="0"/>
              <a:t>TRANSFORM 		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88B1D-28C5-C399-CA01-21BE7C5F1E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2400" dirty="0"/>
              <a:t>LOAD</a:t>
            </a:r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5633612-F774-0CAE-9E5C-D01184B4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C2B4FE06-34C7-A80C-5DBE-4F5168C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E227DBC0-C280-AC5C-C7A8-FF8D56C9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9144" y="6400904"/>
            <a:ext cx="724655" cy="246888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571B76-A514-3F66-DD4C-65176537894F}"/>
              </a:ext>
            </a:extLst>
          </p:cNvPr>
          <p:cNvSpPr txBox="1"/>
          <p:nvPr/>
        </p:nvSpPr>
        <p:spPr>
          <a:xfrm>
            <a:off x="955040" y="3180080"/>
            <a:ext cx="281432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Collect data from different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Sources: Database, Excel, API, 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is in raw 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Changes to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First step to ETL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C47D7C-78B2-AB95-1F19-873AC81372AB}"/>
              </a:ext>
            </a:extLst>
          </p:cNvPr>
          <p:cNvSpPr txBox="1"/>
          <p:nvPr/>
        </p:nvSpPr>
        <p:spPr>
          <a:xfrm>
            <a:off x="4714240" y="3180080"/>
            <a:ext cx="2722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Clean the raw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Remove Duplicate and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Convert data format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Apply Business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Make day ready for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E2CD9-7182-8034-DE04-A9B5BE4CC1CF}"/>
              </a:ext>
            </a:extLst>
          </p:cNvPr>
          <p:cNvSpPr txBox="1"/>
          <p:nvPr/>
        </p:nvSpPr>
        <p:spPr>
          <a:xfrm>
            <a:off x="8410695" y="3169920"/>
            <a:ext cx="28585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Store data to the data warehouse.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is structured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Further used for the BI tools for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Final step of ETL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45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89935-8897-457C-55D7-39E46065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77D6F84-DBCB-6F73-3B2E-7395BC06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SUMMARY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886FF-62DE-889A-CD0C-0950E494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05D16-8D45-28B6-0C9E-8E664633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4480" y="6441648"/>
            <a:ext cx="1463040" cy="246888"/>
          </a:xfrm>
        </p:spPr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5CC49-6306-F9A4-68EF-01625BE0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EF4A3-C38C-3F97-4106-BCC0E2F8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952" y="1775287"/>
            <a:ext cx="9392411" cy="3975273"/>
          </a:xfrm>
        </p:spPr>
        <p:txBody>
          <a:bodyPr/>
          <a:lstStyle/>
          <a:p>
            <a:r>
              <a:rPr lang="en-US" sz="3200" dirty="0"/>
              <a:t>Learned about what data science is and  why it is required.</a:t>
            </a:r>
          </a:p>
          <a:p>
            <a:r>
              <a:rPr lang="en-US" sz="3200" dirty="0"/>
              <a:t>What would happen if data science is not use.</a:t>
            </a:r>
          </a:p>
          <a:p>
            <a:r>
              <a:rPr lang="en-US" sz="3200" dirty="0"/>
              <a:t>Data warehouse concept and what exactly it is</a:t>
            </a:r>
          </a:p>
          <a:p>
            <a:r>
              <a:rPr lang="en-US" sz="3200" dirty="0"/>
              <a:t>OLTP and OLAP what are they and they are the fundamentals of Data science </a:t>
            </a:r>
          </a:p>
          <a:p>
            <a:r>
              <a:rPr lang="en-US" sz="3200" dirty="0"/>
              <a:t>What are ELT and what are its different components.</a:t>
            </a:r>
          </a:p>
          <a:p>
            <a:r>
              <a:rPr lang="en-US" sz="3200" dirty="0"/>
              <a:t>Installation of Oracle DB and Setting up the database server 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135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{905201EB-3A92-4126-8894-4590D69BEA05}tf11429527_win32</Template>
  <TotalTime>94</TotalTime>
  <Words>362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DM Sans Medium</vt:lpstr>
      <vt:lpstr>Karla</vt:lpstr>
      <vt:lpstr>Univers Condensed Light</vt:lpstr>
      <vt:lpstr>Office Theme</vt:lpstr>
      <vt:lpstr>Data Warehouse  OLTP VS OLAP and ETL</vt:lpstr>
      <vt:lpstr>Agenda</vt:lpstr>
      <vt:lpstr>What is Data Science </vt:lpstr>
      <vt:lpstr>What will happen if Data Science is not use </vt:lpstr>
      <vt:lpstr>DATA WAREHOUSE </vt:lpstr>
      <vt:lpstr>OLTP and OLAP</vt:lpstr>
      <vt:lpstr>ETL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SANTOSH NALAWADE</dc:creator>
  <cp:lastModifiedBy>TEJAS SANTOSH NALAWADE</cp:lastModifiedBy>
  <cp:revision>3</cp:revision>
  <dcterms:created xsi:type="dcterms:W3CDTF">2026-01-12T10:09:20Z</dcterms:created>
  <dcterms:modified xsi:type="dcterms:W3CDTF">2026-01-14T03:26:52Z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